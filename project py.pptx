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86818" autoAdjust="0"/>
  </p:normalViewPr>
  <p:slideViewPr>
    <p:cSldViewPr snapToGrid="0">
      <p:cViewPr varScale="1">
        <p:scale>
          <a:sx n="70" d="100"/>
          <a:sy n="70" d="100"/>
        </p:scale>
        <p:origin x="11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ta Ha" userId="748368f2a106c350" providerId="LiveId" clId="{53124DD2-1658-407D-85B5-0D5F763D684E}"/>
    <pc:docChg chg="undo custSel modSld">
      <pc:chgData name="tota Ha" userId="748368f2a106c350" providerId="LiveId" clId="{53124DD2-1658-407D-85B5-0D5F763D684E}" dt="2025-12-10T14:41:10.007" v="118" actId="20577"/>
      <pc:docMkLst>
        <pc:docMk/>
      </pc:docMkLst>
      <pc:sldChg chg="addSp delSp modSp mod">
        <pc:chgData name="tota Ha" userId="748368f2a106c350" providerId="LiveId" clId="{53124DD2-1658-407D-85B5-0D5F763D684E}" dt="2025-12-10T11:46:38.742" v="109" actId="20577"/>
        <pc:sldMkLst>
          <pc:docMk/>
          <pc:sldMk cId="527863809" sldId="256"/>
        </pc:sldMkLst>
        <pc:spChg chg="del">
          <ac:chgData name="tota Ha" userId="748368f2a106c350" providerId="LiveId" clId="{53124DD2-1658-407D-85B5-0D5F763D684E}" dt="2025-12-10T11:13:21.660" v="24" actId="21"/>
          <ac:spMkLst>
            <pc:docMk/>
            <pc:sldMk cId="527863809" sldId="256"/>
            <ac:spMk id="2" creationId="{0B9EE23C-A435-4B8E-9FF3-D8F37CBC34AF}"/>
          </ac:spMkLst>
        </pc:spChg>
        <pc:spChg chg="del">
          <ac:chgData name="tota Ha" userId="748368f2a106c350" providerId="LiveId" clId="{53124DD2-1658-407D-85B5-0D5F763D684E}" dt="2025-12-10T11:13:16.715" v="23" actId="21"/>
          <ac:spMkLst>
            <pc:docMk/>
            <pc:sldMk cId="527863809" sldId="256"/>
            <ac:spMk id="3" creationId="{F5E05BE3-399A-4925-995D-F4776D58FECD}"/>
          </ac:spMkLst>
        </pc:spChg>
        <pc:spChg chg="add mod">
          <ac:chgData name="tota Ha" userId="748368f2a106c350" providerId="LiveId" clId="{53124DD2-1658-407D-85B5-0D5F763D684E}" dt="2025-12-10T11:28:34.343" v="76" actId="1076"/>
          <ac:spMkLst>
            <pc:docMk/>
            <pc:sldMk cId="527863809" sldId="256"/>
            <ac:spMk id="4" creationId="{FD2C77F2-F243-4349-ADA8-23E9B97E9CE4}"/>
          </ac:spMkLst>
        </pc:spChg>
        <pc:spChg chg="add mod">
          <ac:chgData name="tota Ha" userId="748368f2a106c350" providerId="LiveId" clId="{53124DD2-1658-407D-85B5-0D5F763D684E}" dt="2025-12-10T11:46:38.742" v="109" actId="20577"/>
          <ac:spMkLst>
            <pc:docMk/>
            <pc:sldMk cId="527863809" sldId="256"/>
            <ac:spMk id="5" creationId="{0364A326-7C4A-4E0A-A9A1-2774198B6AD1}"/>
          </ac:spMkLst>
        </pc:spChg>
        <pc:spChg chg="add mod">
          <ac:chgData name="tota Ha" userId="748368f2a106c350" providerId="LiveId" clId="{53124DD2-1658-407D-85B5-0D5F763D684E}" dt="2025-12-10T11:21:53.530" v="62" actId="20577"/>
          <ac:spMkLst>
            <pc:docMk/>
            <pc:sldMk cId="527863809" sldId="256"/>
            <ac:spMk id="6" creationId="{DFB66B79-0F7B-4B80-A4D0-7A2AC56FC942}"/>
          </ac:spMkLst>
        </pc:spChg>
        <pc:spChg chg="add del mod">
          <ac:chgData name="tota Ha" userId="748368f2a106c350" providerId="LiveId" clId="{53124DD2-1658-407D-85B5-0D5F763D684E}" dt="2025-12-10T11:21:48.439" v="61"/>
          <ac:spMkLst>
            <pc:docMk/>
            <pc:sldMk cId="527863809" sldId="256"/>
            <ac:spMk id="7" creationId="{6F60A9AC-4B59-4332-9641-1B79DC5E6C5E}"/>
          </ac:spMkLst>
        </pc:spChg>
        <pc:spChg chg="add del">
          <ac:chgData name="tota Ha" userId="748368f2a106c350" providerId="LiveId" clId="{53124DD2-1658-407D-85B5-0D5F763D684E}" dt="2025-12-10T11:22:11.221" v="64" actId="11529"/>
          <ac:spMkLst>
            <pc:docMk/>
            <pc:sldMk cId="527863809" sldId="256"/>
            <ac:spMk id="8" creationId="{4EC565BF-C00B-4B36-96F3-8F6C2E588270}"/>
          </ac:spMkLst>
        </pc:spChg>
        <pc:spChg chg="add mod">
          <ac:chgData name="tota Ha" userId="748368f2a106c350" providerId="LiveId" clId="{53124DD2-1658-407D-85B5-0D5F763D684E}" dt="2025-12-10T11:29:50.215" v="89" actId="207"/>
          <ac:spMkLst>
            <pc:docMk/>
            <pc:sldMk cId="527863809" sldId="256"/>
            <ac:spMk id="11" creationId="{8CCC2956-CBFB-42BF-B5FF-9EA0A9384EC1}"/>
          </ac:spMkLst>
        </pc:spChg>
        <pc:cxnChg chg="add mod">
          <ac:chgData name="tota Ha" userId="748368f2a106c350" providerId="LiveId" clId="{53124DD2-1658-407D-85B5-0D5F763D684E}" dt="2025-12-10T11:23:18.964" v="73" actId="17032"/>
          <ac:cxnSpMkLst>
            <pc:docMk/>
            <pc:sldMk cId="527863809" sldId="256"/>
            <ac:cxnSpMk id="10" creationId="{EE825D54-B08F-4FB2-96F6-2E95BD0F24A4}"/>
          </ac:cxnSpMkLst>
        </pc:cxnChg>
      </pc:sldChg>
      <pc:sldChg chg="modSp mod">
        <pc:chgData name="tota Ha" userId="748368f2a106c350" providerId="LiveId" clId="{53124DD2-1658-407D-85B5-0D5F763D684E}" dt="2025-12-10T14:41:10.007" v="118" actId="20577"/>
        <pc:sldMkLst>
          <pc:docMk/>
          <pc:sldMk cId="2871377485" sldId="261"/>
        </pc:sldMkLst>
        <pc:spChg chg="mod">
          <ac:chgData name="tota Ha" userId="748368f2a106c350" providerId="LiveId" clId="{53124DD2-1658-407D-85B5-0D5F763D684E}" dt="2025-12-10T14:41:10.007" v="118" actId="20577"/>
          <ac:spMkLst>
            <pc:docMk/>
            <pc:sldMk cId="2871377485" sldId="261"/>
            <ac:spMk id="3" creationId="{C68F1C79-09D5-42CE-953A-11F9C58CFD3A}"/>
          </ac:spMkLst>
        </pc:spChg>
      </pc:sldChg>
      <pc:sldChg chg="modSp mod">
        <pc:chgData name="tota Ha" userId="748368f2a106c350" providerId="LiveId" clId="{53124DD2-1658-407D-85B5-0D5F763D684E}" dt="2025-12-10T11:24:23.894" v="75" actId="20577"/>
        <pc:sldMkLst>
          <pc:docMk/>
          <pc:sldMk cId="1750777382" sldId="262"/>
        </pc:sldMkLst>
        <pc:spChg chg="mod">
          <ac:chgData name="tota Ha" userId="748368f2a106c350" providerId="LiveId" clId="{53124DD2-1658-407D-85B5-0D5F763D684E}" dt="2025-12-10T11:24:23.894" v="75" actId="20577"/>
          <ac:spMkLst>
            <pc:docMk/>
            <pc:sldMk cId="1750777382" sldId="262"/>
            <ac:spMk id="3" creationId="{9C5C3DD8-33EF-407E-9A28-B39D60E18604}"/>
          </ac:spMkLst>
        </pc:spChg>
      </pc:sldChg>
      <pc:sldChg chg="addSp delSp modSp mod">
        <pc:chgData name="tota Ha" userId="748368f2a106c350" providerId="LiveId" clId="{53124DD2-1658-407D-85B5-0D5F763D684E}" dt="2025-12-10T11:12:23.687" v="22" actId="14100"/>
        <pc:sldMkLst>
          <pc:docMk/>
          <pc:sldMk cId="3256192316" sldId="263"/>
        </pc:sldMkLst>
        <pc:spChg chg="del">
          <ac:chgData name="tota Ha" userId="748368f2a106c350" providerId="LiveId" clId="{53124DD2-1658-407D-85B5-0D5F763D684E}" dt="2025-12-10T11:10:16.158" v="0" actId="21"/>
          <ac:spMkLst>
            <pc:docMk/>
            <pc:sldMk cId="3256192316" sldId="263"/>
            <ac:spMk id="2" creationId="{6871A5BE-85E9-4DE9-91F2-A0DEAE97DFDD}"/>
          </ac:spMkLst>
        </pc:spChg>
        <pc:spChg chg="del">
          <ac:chgData name="tota Ha" userId="748368f2a106c350" providerId="LiveId" clId="{53124DD2-1658-407D-85B5-0D5F763D684E}" dt="2025-12-10T11:10:18.212" v="1" actId="21"/>
          <ac:spMkLst>
            <pc:docMk/>
            <pc:sldMk cId="3256192316" sldId="263"/>
            <ac:spMk id="3" creationId="{40FEDC86-6FE5-414D-B391-D8AF19148867}"/>
          </ac:spMkLst>
        </pc:spChg>
        <pc:picChg chg="add mod">
          <ac:chgData name="tota Ha" userId="748368f2a106c350" providerId="LiveId" clId="{53124DD2-1658-407D-85B5-0D5F763D684E}" dt="2025-12-10T11:12:23.687" v="22" actId="14100"/>
          <ac:picMkLst>
            <pc:docMk/>
            <pc:sldMk cId="3256192316" sldId="263"/>
            <ac:picMk id="5" creationId="{3E0B380A-9754-4568-B79E-8D04717D2771}"/>
          </ac:picMkLst>
        </pc:picChg>
        <pc:picChg chg="add mod modCrop">
          <ac:chgData name="tota Ha" userId="748368f2a106c350" providerId="LiveId" clId="{53124DD2-1658-407D-85B5-0D5F763D684E}" dt="2025-12-10T11:12:19.941" v="21" actId="1076"/>
          <ac:picMkLst>
            <pc:docMk/>
            <pc:sldMk cId="3256192316" sldId="263"/>
            <ac:picMk id="7" creationId="{D6BE89C7-71BE-49ED-B3EA-6EC326ADAB9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50619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928710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82793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145574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439625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54972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935125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24324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174707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صورة بانورامي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719955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لعنوان والتسمية ال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093338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قتباس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5307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بطاقة اس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579126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567347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 صو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383191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3208319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5589915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C0E5AFE-4EF5-4A1C-BBD9-9799F4E3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594A9FC-794C-4E94-9216-9382B9F7A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BA7B8CB-0D4A-4C75-BD47-60CDF955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27E7EA4-33A5-4A01-81B8-1E97144F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FFBE53C-6404-4266-8D89-D29079F96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496958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20296B3-501E-427A-97BE-30C7F61A1B7B}" type="datetimeFigureOut">
              <a:rPr lang="ar-IQ" smtClean="0"/>
              <a:t>20/06/1447</a:t>
            </a:fld>
            <a:endParaRPr lang="ar-I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ar-I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A963C1A-37C0-4779-9BEB-6B3D7A08609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690661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ربع نص 3">
            <a:extLst>
              <a:ext uri="{FF2B5EF4-FFF2-40B4-BE49-F238E27FC236}">
                <a16:creationId xmlns:a16="http://schemas.microsoft.com/office/drawing/2014/main" id="{FD2C77F2-F243-4349-ADA8-23E9B97E9CE4}"/>
              </a:ext>
            </a:extLst>
          </p:cNvPr>
          <p:cNvSpPr txBox="1"/>
          <p:nvPr/>
        </p:nvSpPr>
        <p:spPr>
          <a:xfrm>
            <a:off x="0" y="892629"/>
            <a:ext cx="12192000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UNIVERSITY OF TECHNOLOGY</a:t>
            </a: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0364A326-7C4A-4E0A-A9A1-2774198B6AD1}"/>
              </a:ext>
            </a:extLst>
          </p:cNvPr>
          <p:cNvSpPr txBox="1"/>
          <p:nvPr/>
        </p:nvSpPr>
        <p:spPr>
          <a:xfrm>
            <a:off x="0" y="2025831"/>
            <a:ext cx="1219200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Impact" panose="020B0806030902050204" pitchFamily="34" charset="0"/>
              </a:rPr>
              <a:t>The project</a:t>
            </a:r>
          </a:p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Impact" panose="020B0806030902050204" pitchFamily="34" charset="0"/>
              </a:rPr>
              <a:t>License Plate Detection</a:t>
            </a:r>
          </a:p>
          <a:p>
            <a:pPr algn="ctr"/>
            <a:endParaRPr lang="ar-IQ" sz="2400" dirty="0">
              <a:solidFill>
                <a:schemeClr val="accent6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DFB66B79-0F7B-4B80-A4D0-7A2AC56FC942}"/>
              </a:ext>
            </a:extLst>
          </p:cNvPr>
          <p:cNvSpPr txBox="1"/>
          <p:nvPr/>
        </p:nvSpPr>
        <p:spPr>
          <a:xfrm>
            <a:off x="370114" y="3701143"/>
            <a:ext cx="7053943" cy="304698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BY:</a:t>
            </a:r>
          </a:p>
          <a:p>
            <a:r>
              <a:rPr lang="en-US" sz="24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AYOOB AMER MAJED</a:t>
            </a:r>
          </a:p>
          <a:p>
            <a:r>
              <a:rPr lang="en-US" sz="24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TABARAK HAITHAM ALI</a:t>
            </a:r>
          </a:p>
          <a:p>
            <a:endParaRPr lang="en-US" sz="24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r>
              <a:rPr lang="en-US" sz="24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Morning Group A</a:t>
            </a:r>
          </a:p>
          <a:p>
            <a:r>
              <a:rPr lang="en-US" sz="24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Third Stage</a:t>
            </a:r>
            <a:endParaRPr lang="ar-IQ" sz="24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endParaRPr lang="ar-IQ" sz="24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endParaRPr lang="ar-IQ" sz="24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cxnSp>
        <p:nvCxnSpPr>
          <p:cNvPr id="10" name="رابط كسهم مستقيم 9">
            <a:extLst>
              <a:ext uri="{FF2B5EF4-FFF2-40B4-BE49-F238E27FC236}">
                <a16:creationId xmlns:a16="http://schemas.microsoft.com/office/drawing/2014/main" id="{EE825D54-B08F-4FB2-96F6-2E95BD0F24A4}"/>
              </a:ext>
            </a:extLst>
          </p:cNvPr>
          <p:cNvCxnSpPr/>
          <p:nvPr/>
        </p:nvCxnSpPr>
        <p:spPr>
          <a:xfrm>
            <a:off x="0" y="5040086"/>
            <a:ext cx="546462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8CCC2956-CBFB-42BF-B5FF-9EA0A9384EC1}"/>
              </a:ext>
            </a:extLst>
          </p:cNvPr>
          <p:cNvSpPr txBox="1"/>
          <p:nvPr/>
        </p:nvSpPr>
        <p:spPr>
          <a:xfrm>
            <a:off x="6683829" y="109869"/>
            <a:ext cx="550817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Computer Engineering – Fall 2025</a:t>
            </a:r>
            <a:endParaRPr lang="ar-IQ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863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ربع نص 6">
            <a:extLst>
              <a:ext uri="{FF2B5EF4-FFF2-40B4-BE49-F238E27FC236}">
                <a16:creationId xmlns:a16="http://schemas.microsoft.com/office/drawing/2014/main" id="{90B091D9-1EB8-4732-9AA3-01513DC54B11}"/>
              </a:ext>
            </a:extLst>
          </p:cNvPr>
          <p:cNvSpPr txBox="1"/>
          <p:nvPr/>
        </p:nvSpPr>
        <p:spPr>
          <a:xfrm>
            <a:off x="0" y="160775"/>
            <a:ext cx="12192000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Python Libraries Used in the Project</a:t>
            </a:r>
            <a:endParaRPr lang="ar-IQ" sz="3200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BC40E73A-8315-479C-BD08-5E224B56CAF2}"/>
              </a:ext>
            </a:extLst>
          </p:cNvPr>
          <p:cNvSpPr txBox="1"/>
          <p:nvPr/>
        </p:nvSpPr>
        <p:spPr>
          <a:xfrm>
            <a:off x="152400" y="974690"/>
            <a:ext cx="5134708" cy="458587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OpenCV (cv2)</a:t>
            </a:r>
          </a:p>
          <a:p>
            <a:pPr algn="l"/>
            <a:r>
              <a:rPr lang="en-US" dirty="0"/>
              <a:t>• Read and process images</a:t>
            </a:r>
          </a:p>
          <a:p>
            <a:pPr algn="l"/>
            <a:r>
              <a:rPr lang="en-US" dirty="0"/>
              <a:t>• Crop the license plate</a:t>
            </a:r>
          </a:p>
          <a:p>
            <a:pPr algn="l"/>
            <a:r>
              <a:rPr lang="en-US" dirty="0"/>
              <a:t>• Draw bounding boxes</a:t>
            </a:r>
          </a:p>
          <a:p>
            <a:pPr algn="l"/>
            <a:endParaRPr lang="en-US" dirty="0"/>
          </a:p>
          <a:p>
            <a:pPr algn="l"/>
            <a:r>
              <a:rPr lang="en-US" sz="2400" dirty="0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YOLO (</a:t>
            </a:r>
            <a:r>
              <a:rPr lang="en-US" sz="2400" dirty="0" err="1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Ultralytics</a:t>
            </a:r>
            <a:r>
              <a:rPr lang="en-US" sz="2400" dirty="0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</a:p>
          <a:p>
            <a:pPr algn="l"/>
            <a:r>
              <a:rPr lang="en-US" dirty="0"/>
              <a:t>• Detect the license plate location</a:t>
            </a:r>
          </a:p>
          <a:p>
            <a:pPr algn="l"/>
            <a:r>
              <a:rPr lang="en-US" dirty="0"/>
              <a:t>• Provide bounding box coordinates</a:t>
            </a:r>
          </a:p>
          <a:p>
            <a:pPr algn="l"/>
            <a:r>
              <a:rPr lang="en-US" dirty="0"/>
              <a:t>• Identify objects in the image</a:t>
            </a:r>
          </a:p>
          <a:p>
            <a:pPr algn="l"/>
            <a:endParaRPr lang="en-US" dirty="0"/>
          </a:p>
          <a:p>
            <a:pPr algn="l"/>
            <a:r>
              <a:rPr lang="en-US" sz="2800" dirty="0" err="1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EasyOCR</a:t>
            </a:r>
            <a:endParaRPr lang="en-US" sz="2800" dirty="0">
              <a:solidFill>
                <a:srgbClr val="0070C0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algn="l"/>
            <a:r>
              <a:rPr lang="en-US" dirty="0"/>
              <a:t>• Read the text from the plate</a:t>
            </a:r>
          </a:p>
          <a:p>
            <a:pPr algn="l"/>
            <a:r>
              <a:rPr lang="en-US" dirty="0"/>
              <a:t>• Extract characters accurately</a:t>
            </a:r>
          </a:p>
          <a:p>
            <a:pPr algn="l"/>
            <a:r>
              <a:rPr lang="en-US" dirty="0"/>
              <a:t>• Work directly on cropped images</a:t>
            </a:r>
          </a:p>
          <a:p>
            <a:pPr algn="l"/>
            <a:endParaRPr lang="en-US" dirty="0"/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8D8CD441-B931-45A3-9FEB-D1E0175A8122}"/>
              </a:ext>
            </a:extLst>
          </p:cNvPr>
          <p:cNvSpPr txBox="1"/>
          <p:nvPr/>
        </p:nvSpPr>
        <p:spPr>
          <a:xfrm>
            <a:off x="5707464" y="1115368"/>
            <a:ext cx="6203182" cy="304698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Matplotlib</a:t>
            </a:r>
          </a:p>
          <a:p>
            <a:pPr algn="l"/>
            <a:r>
              <a:rPr lang="en-US" dirty="0"/>
              <a:t>• Display the final results</a:t>
            </a:r>
          </a:p>
          <a:p>
            <a:pPr algn="l"/>
            <a:r>
              <a:rPr lang="en-US" dirty="0"/>
              <a:t>• Show images with annotations</a:t>
            </a:r>
          </a:p>
          <a:p>
            <a:pPr algn="l"/>
            <a:r>
              <a:rPr lang="en-US" dirty="0"/>
              <a:t>• Visualize detections clearly</a:t>
            </a:r>
          </a:p>
          <a:p>
            <a:pPr algn="l"/>
            <a:endParaRPr lang="en-US" dirty="0"/>
          </a:p>
          <a:p>
            <a:pPr algn="l"/>
            <a:r>
              <a:rPr lang="en-US" sz="2400" dirty="0" err="1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Tkinter</a:t>
            </a:r>
            <a:endParaRPr lang="en-US" sz="2400" dirty="0">
              <a:solidFill>
                <a:srgbClr val="0070C0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algn="l"/>
            <a:r>
              <a:rPr lang="en-US" dirty="0"/>
              <a:t>• Open file selection window</a:t>
            </a:r>
          </a:p>
          <a:p>
            <a:pPr algn="l"/>
            <a:r>
              <a:rPr lang="en-US" dirty="0"/>
              <a:t>• Allow choosing an input image</a:t>
            </a:r>
          </a:p>
          <a:p>
            <a:pPr algn="l"/>
            <a:r>
              <a:rPr lang="en-US" dirty="0"/>
              <a:t>• Provide simple GUI interaction</a:t>
            </a:r>
            <a:endParaRPr lang="ar-IQ" dirty="0"/>
          </a:p>
          <a:p>
            <a:endParaRPr lang="ar-IQ" dirty="0"/>
          </a:p>
        </p:txBody>
      </p:sp>
    </p:spTree>
    <p:extLst>
      <p:ext uri="{BB962C8B-B14F-4D97-AF65-F5344CB8AC3E}">
        <p14:creationId xmlns:p14="http://schemas.microsoft.com/office/powerpoint/2010/main" val="3125483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1EE5A1B-3F69-4F6E-87B1-BF46CB272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0919"/>
            <a:ext cx="12192000" cy="92219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Libraries for Converting XML Files to TXT Format</a:t>
            </a:r>
            <a:endParaRPr lang="ar-IQ" sz="2800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DA4107C-3B44-4763-B8FD-32EFEB86B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570" y="139354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2800" dirty="0" err="1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os</a:t>
            </a:r>
            <a:endParaRPr lang="en-US" sz="2800" dirty="0">
              <a:solidFill>
                <a:srgbClr val="0070C0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algn="l"/>
            <a:endParaRPr lang="en-US" dirty="0"/>
          </a:p>
          <a:p>
            <a:pPr algn="l"/>
            <a:r>
              <a:rPr lang="en-US" sz="2100" dirty="0"/>
              <a:t>• Access files inside folders</a:t>
            </a:r>
          </a:p>
          <a:p>
            <a:pPr algn="l"/>
            <a:r>
              <a:rPr lang="en-US" sz="2100" dirty="0"/>
              <a:t>• Create the output labels directory</a:t>
            </a:r>
          </a:p>
          <a:p>
            <a:pPr algn="l"/>
            <a:r>
              <a:rPr lang="en-US" sz="2100" dirty="0"/>
              <a:t>• Loop through all XML files in the dataset</a:t>
            </a:r>
          </a:p>
          <a:p>
            <a:pPr algn="l"/>
            <a:endParaRPr lang="en-US" dirty="0"/>
          </a:p>
          <a:p>
            <a:pPr algn="l"/>
            <a:r>
              <a:rPr lang="en-US" dirty="0" err="1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xml.etree.ElementTree</a:t>
            </a:r>
            <a:r>
              <a:rPr lang="en-US" dirty="0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(ET)</a:t>
            </a:r>
          </a:p>
          <a:p>
            <a:pPr algn="l"/>
            <a:endParaRPr lang="en-US" dirty="0"/>
          </a:p>
          <a:p>
            <a:pPr algn="l"/>
            <a:r>
              <a:rPr lang="en-US" sz="1900" dirty="0"/>
              <a:t>• Read and parse XML annotation files</a:t>
            </a:r>
          </a:p>
          <a:p>
            <a:pPr algn="l"/>
            <a:r>
              <a:rPr lang="en-US" sz="1900" dirty="0"/>
              <a:t>• Extract bounding box coordinates (</a:t>
            </a:r>
            <a:r>
              <a:rPr lang="en-US" sz="1900" dirty="0" err="1"/>
              <a:t>xmin</a:t>
            </a:r>
            <a:r>
              <a:rPr lang="en-US" sz="1900" dirty="0"/>
              <a:t>, </a:t>
            </a:r>
            <a:r>
              <a:rPr lang="en-US" sz="1900" dirty="0" err="1"/>
              <a:t>xmax</a:t>
            </a:r>
            <a:r>
              <a:rPr lang="en-US" sz="1900" dirty="0"/>
              <a:t>, </a:t>
            </a:r>
            <a:r>
              <a:rPr lang="en-US" sz="1900" dirty="0" err="1"/>
              <a:t>ymin</a:t>
            </a:r>
            <a:r>
              <a:rPr lang="en-US" sz="1900" dirty="0"/>
              <a:t>, </a:t>
            </a:r>
            <a:r>
              <a:rPr lang="en-US" sz="1900" dirty="0" err="1"/>
              <a:t>ymax</a:t>
            </a:r>
            <a:r>
              <a:rPr lang="en-US" sz="1900" dirty="0"/>
              <a:t>)</a:t>
            </a:r>
          </a:p>
          <a:p>
            <a:pPr algn="l"/>
            <a:r>
              <a:rPr lang="en-US" sz="1900" dirty="0"/>
              <a:t>• Access image size and object information inside XML structure</a:t>
            </a:r>
            <a:endParaRPr lang="ar-IQ" sz="1900" dirty="0"/>
          </a:p>
        </p:txBody>
      </p:sp>
    </p:spTree>
    <p:extLst>
      <p:ext uri="{BB962C8B-B14F-4D97-AF65-F5344CB8AC3E}">
        <p14:creationId xmlns:p14="http://schemas.microsoft.com/office/powerpoint/2010/main" val="288119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5E03979-52B7-4ABC-8CA1-C718CEE96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790643"/>
            <a:ext cx="10515600" cy="6067357"/>
          </a:xfrm>
        </p:spPr>
        <p:txBody>
          <a:bodyPr>
            <a:noAutofit/>
          </a:bodyPr>
          <a:lstStyle/>
          <a:p>
            <a:pPr algn="l"/>
            <a:r>
              <a:rPr lang="en-US" sz="2000" dirty="0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Train Data</a:t>
            </a:r>
          </a:p>
          <a:p>
            <a:pPr algn="l"/>
            <a:r>
              <a:rPr lang="en-US" sz="1800" dirty="0"/>
              <a:t>• Used to teach the model</a:t>
            </a:r>
          </a:p>
          <a:p>
            <a:pPr algn="l"/>
            <a:r>
              <a:rPr lang="en-US" sz="1800" dirty="0"/>
              <a:t>• Most of the images</a:t>
            </a:r>
          </a:p>
          <a:p>
            <a:pPr algn="l"/>
            <a:r>
              <a:rPr lang="en-US" sz="1800" dirty="0"/>
              <a:t>• Helps the model learn features</a:t>
            </a:r>
          </a:p>
          <a:p>
            <a:pPr algn="l"/>
            <a:endParaRPr lang="en-US" sz="1800" dirty="0"/>
          </a:p>
          <a:p>
            <a:pPr algn="l"/>
            <a:r>
              <a:rPr lang="en-US" sz="2000" dirty="0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Validation Data (Val)</a:t>
            </a:r>
          </a:p>
          <a:p>
            <a:pPr algn="l"/>
            <a:r>
              <a:rPr lang="en-US" sz="1800" dirty="0"/>
              <a:t>• Used to test the model</a:t>
            </a:r>
          </a:p>
          <a:p>
            <a:pPr algn="l"/>
            <a:r>
              <a:rPr lang="en-US" sz="1800" dirty="0"/>
              <a:t>• Model does not learn from it</a:t>
            </a:r>
          </a:p>
          <a:p>
            <a:pPr algn="l"/>
            <a:r>
              <a:rPr lang="en-US" sz="1800" dirty="0"/>
              <a:t>• Checks accuracy during training</a:t>
            </a:r>
          </a:p>
          <a:p>
            <a:pPr algn="l"/>
            <a:r>
              <a:rPr lang="en-US" sz="2000" dirty="0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Why split?</a:t>
            </a:r>
          </a:p>
          <a:p>
            <a:pPr algn="l"/>
            <a:r>
              <a:rPr lang="en-US" sz="1800" dirty="0"/>
              <a:t>• To test performance on unseen images</a:t>
            </a:r>
          </a:p>
          <a:p>
            <a:pPr algn="l"/>
            <a:r>
              <a:rPr lang="en-US" sz="1800" dirty="0"/>
              <a:t>• Prevent overfitting</a:t>
            </a:r>
          </a:p>
          <a:p>
            <a:pPr algn="l"/>
            <a:r>
              <a:rPr lang="en-US" sz="1800" dirty="0"/>
              <a:t>• Improve model accuracy</a:t>
            </a:r>
            <a:endParaRPr lang="ar-IQ" sz="1800" dirty="0"/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8A5257D4-CC0F-4858-ACC3-39986122D0F8}"/>
              </a:ext>
            </a:extLst>
          </p:cNvPr>
          <p:cNvSpPr txBox="1"/>
          <p:nvPr/>
        </p:nvSpPr>
        <p:spPr>
          <a:xfrm>
            <a:off x="1" y="150725"/>
            <a:ext cx="12192000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Training and Validation Explanation</a:t>
            </a:r>
            <a:endParaRPr lang="ar-IQ" sz="3200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458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E34899B-0423-4DC7-AF48-32B23BAF5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21" y="964643"/>
            <a:ext cx="10515600" cy="5717512"/>
          </a:xfrm>
        </p:spPr>
        <p:txBody>
          <a:bodyPr>
            <a:normAutofit fontScale="40000" lnSpcReduction="20000"/>
          </a:bodyPr>
          <a:lstStyle/>
          <a:p>
            <a:pPr lvl="1" algn="l"/>
            <a:r>
              <a:rPr lang="en-US" sz="5500" dirty="0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1) Data Preparation</a:t>
            </a:r>
            <a:endParaRPr lang="en-US" sz="2800" dirty="0"/>
          </a:p>
          <a:p>
            <a:pPr algn="l"/>
            <a:r>
              <a:rPr lang="en-US" sz="4500" dirty="0"/>
              <a:t>• Converted XML to YOLO format</a:t>
            </a:r>
          </a:p>
          <a:p>
            <a:pPr algn="l"/>
            <a:r>
              <a:rPr lang="en-US" sz="4500" dirty="0"/>
              <a:t>• Split into Train and Val</a:t>
            </a:r>
          </a:p>
          <a:p>
            <a:pPr algn="l"/>
            <a:endParaRPr lang="en-US" dirty="0"/>
          </a:p>
          <a:p>
            <a:pPr lvl="6" algn="l"/>
            <a:r>
              <a:rPr lang="en-US" sz="6000" dirty="0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2) YAML Setup</a:t>
            </a:r>
          </a:p>
          <a:p>
            <a:pPr algn="l"/>
            <a:r>
              <a:rPr lang="en-US" sz="4500" dirty="0"/>
              <a:t>• Added image paths</a:t>
            </a:r>
          </a:p>
          <a:p>
            <a:pPr algn="l"/>
            <a:r>
              <a:rPr lang="en-US" sz="4500" dirty="0"/>
              <a:t>• One class (</a:t>
            </a:r>
            <a:r>
              <a:rPr lang="en-US" sz="4500" dirty="0" err="1"/>
              <a:t>licence</a:t>
            </a:r>
            <a:r>
              <a:rPr lang="en-US" sz="4500" dirty="0"/>
              <a:t>)</a:t>
            </a:r>
          </a:p>
          <a:p>
            <a:pPr algn="l"/>
            <a:endParaRPr lang="en-US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algn="l"/>
            <a:r>
              <a:rPr lang="en-US" sz="4400" dirty="0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3) YOLO Training</a:t>
            </a:r>
          </a:p>
          <a:p>
            <a:pPr lvl="8" algn="l"/>
            <a:r>
              <a:rPr lang="en-US" sz="4500" dirty="0"/>
              <a:t>• Trained for 50 epochs</a:t>
            </a:r>
          </a:p>
          <a:p>
            <a:pPr algn="l"/>
            <a:r>
              <a:rPr lang="en-US" sz="5000" dirty="0"/>
              <a:t>• Model learned plate detection</a:t>
            </a:r>
          </a:p>
          <a:p>
            <a:pPr algn="l"/>
            <a:endParaRPr lang="en-US" dirty="0"/>
          </a:p>
          <a:p>
            <a:pPr lvl="8" algn="l"/>
            <a:r>
              <a:rPr lang="en-US" sz="5100" dirty="0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4) Validation</a:t>
            </a:r>
          </a:p>
          <a:p>
            <a:pPr algn="l"/>
            <a:r>
              <a:rPr lang="en-US" sz="4500" dirty="0"/>
              <a:t>• Tested on Val images</a:t>
            </a:r>
          </a:p>
          <a:p>
            <a:pPr algn="l"/>
            <a:r>
              <a:rPr lang="en-US" sz="4500" dirty="0"/>
              <a:t>• Saved best model (best.pt)</a:t>
            </a:r>
            <a:endParaRPr lang="ar-IQ" sz="4500" dirty="0"/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B82FE811-629B-421E-B0D5-6D76175D6D52}"/>
              </a:ext>
            </a:extLst>
          </p:cNvPr>
          <p:cNvSpPr txBox="1"/>
          <p:nvPr/>
        </p:nvSpPr>
        <p:spPr>
          <a:xfrm>
            <a:off x="0" y="110530"/>
            <a:ext cx="12192000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How We Trained the Model</a:t>
            </a:r>
            <a:endParaRPr lang="ar-IQ" sz="3200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501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68F1C79-09D5-42CE-953A-11F9C58CF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975" y="844061"/>
            <a:ext cx="10747549" cy="5908431"/>
          </a:xfrm>
        </p:spPr>
        <p:txBody>
          <a:bodyPr>
            <a:noAutofit/>
          </a:bodyPr>
          <a:lstStyle/>
          <a:p>
            <a:pPr algn="l"/>
            <a:endParaRPr lang="en-US" sz="1800" dirty="0"/>
          </a:p>
          <a:p>
            <a:pPr algn="l"/>
            <a:r>
              <a:rPr lang="en-US" sz="1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1</a:t>
            </a:r>
            <a:r>
              <a:rPr lang="en-US" sz="2400" dirty="0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) Load the Required Libraries</a:t>
            </a:r>
          </a:p>
          <a:p>
            <a:pPr algn="l"/>
            <a:r>
              <a:rPr lang="en-US" sz="1800" dirty="0"/>
              <a:t>The code imports OpenCV, YOLO, </a:t>
            </a:r>
            <a:r>
              <a:rPr lang="en-US" sz="1800" dirty="0" err="1"/>
              <a:t>EasyOCR</a:t>
            </a:r>
            <a:r>
              <a:rPr lang="en-US" sz="1800" dirty="0"/>
              <a:t>, Matplotlib, and </a:t>
            </a:r>
            <a:r>
              <a:rPr lang="en-US" sz="1800" dirty="0" err="1"/>
              <a:t>Tkinter</a:t>
            </a:r>
            <a:r>
              <a:rPr lang="en-US" sz="1800" dirty="0"/>
              <a:t>.</a:t>
            </a:r>
          </a:p>
          <a:p>
            <a:pPr algn="l"/>
            <a:r>
              <a:rPr lang="en-US" sz="1800" dirty="0"/>
              <a:t>Each library is used for a specific task such as detection, OCR, or selecting images.</a:t>
            </a:r>
          </a:p>
          <a:p>
            <a:pPr algn="l"/>
            <a:endParaRPr lang="en-US" sz="1800" dirty="0"/>
          </a:p>
          <a:p>
            <a:pPr algn="l"/>
            <a:r>
              <a:rPr lang="en-US" sz="2400" dirty="0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2) Load the Trained YOLO Model</a:t>
            </a:r>
          </a:p>
          <a:p>
            <a:pPr algn="l"/>
            <a:r>
              <a:rPr lang="en-US" sz="1800" dirty="0"/>
              <a:t>The file best.pt is loaded into the program.</a:t>
            </a:r>
          </a:p>
          <a:p>
            <a:pPr algn="l"/>
            <a:r>
              <a:rPr lang="en-US" sz="1800" dirty="0"/>
              <a:t>This model is responsible for detecting the license plate in the image.</a:t>
            </a:r>
          </a:p>
          <a:p>
            <a:pPr algn="l"/>
            <a:endParaRPr lang="en-US" sz="1800" dirty="0"/>
          </a:p>
          <a:p>
            <a:pPr algn="l"/>
            <a:r>
              <a:rPr lang="en-US" sz="2400" dirty="0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3) Choose an Image with </a:t>
            </a:r>
            <a:r>
              <a:rPr lang="en-US" sz="2400" dirty="0" err="1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Tkinter</a:t>
            </a:r>
            <a:endParaRPr lang="en-US" sz="2400" dirty="0">
              <a:solidFill>
                <a:srgbClr val="0070C0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algn="l"/>
            <a:r>
              <a:rPr lang="en-US" sz="1800" dirty="0"/>
              <a:t>A small window opens allowing the user to select any image from the device.</a:t>
            </a:r>
          </a:p>
          <a:p>
            <a:pPr algn="l"/>
            <a:r>
              <a:rPr lang="en-US" sz="1800" dirty="0"/>
              <a:t>The selected image is then read using </a:t>
            </a:r>
            <a:r>
              <a:rPr lang="en-US" sz="1800"/>
              <a:t>OpenCV.</a:t>
            </a:r>
            <a:endParaRPr lang="en-US" sz="1800" dirty="0"/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DD8E5AA3-C509-4D9E-9432-5A117B1A623D}"/>
              </a:ext>
            </a:extLst>
          </p:cNvPr>
          <p:cNvSpPr txBox="1"/>
          <p:nvPr/>
        </p:nvSpPr>
        <p:spPr>
          <a:xfrm>
            <a:off x="0" y="241160"/>
            <a:ext cx="12192000" cy="83401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IQ" dirty="0"/>
          </a:p>
        </p:txBody>
      </p:sp>
      <p:sp>
        <p:nvSpPr>
          <p:cNvPr id="5" name="عنوان 1">
            <a:extLst>
              <a:ext uri="{FF2B5EF4-FFF2-40B4-BE49-F238E27FC236}">
                <a16:creationId xmlns:a16="http://schemas.microsoft.com/office/drawing/2014/main" id="{5D025C37-4CEC-4DE6-B8FD-43871DBF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1280"/>
            <a:ext cx="12192000" cy="662782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How the Main Code Works</a:t>
            </a:r>
            <a:endParaRPr lang="ar-IQ" sz="3200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377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C5C3DD8-33EF-407E-9A28-B39D60E18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580"/>
            <a:ext cx="10515600" cy="664196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2400" dirty="0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4) Run YOLO Detection</a:t>
            </a:r>
          </a:p>
          <a:p>
            <a:pPr algn="l"/>
            <a:r>
              <a:rPr lang="en-US" sz="1800" dirty="0"/>
              <a:t>The image is passed to the YOLO model.</a:t>
            </a:r>
          </a:p>
          <a:p>
            <a:pPr algn="l"/>
            <a:r>
              <a:rPr lang="en-US" sz="1800" dirty="0"/>
              <a:t>YOLO returns the bounding box coordinates of the license plate.</a:t>
            </a:r>
          </a:p>
          <a:p>
            <a:pPr algn="l"/>
            <a:endParaRPr lang="en-US" sz="1800" dirty="0"/>
          </a:p>
          <a:p>
            <a:pPr algn="l"/>
            <a:r>
              <a:rPr lang="en-US" sz="2400" dirty="0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5) Crop the License Plate</a:t>
            </a:r>
          </a:p>
          <a:p>
            <a:pPr algn="l"/>
            <a:r>
              <a:rPr lang="en-US" sz="1800" dirty="0"/>
              <a:t>Using the YOLO bounding box, the code cuts out only the plate region from the image.</a:t>
            </a:r>
          </a:p>
          <a:p>
            <a:pPr algn="l"/>
            <a:endParaRPr lang="en-US" sz="1800" dirty="0"/>
          </a:p>
          <a:p>
            <a:pPr algn="l"/>
            <a:r>
              <a:rPr lang="en-US" sz="2400" dirty="0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6) Apply </a:t>
            </a:r>
            <a:r>
              <a:rPr lang="en-US" sz="2400" dirty="0" err="1">
                <a:solidFill>
                  <a:srgbClr val="0070C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EasyOcR</a:t>
            </a:r>
            <a:endParaRPr lang="en-US" sz="2400" dirty="0">
              <a:solidFill>
                <a:srgbClr val="0070C0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algn="l"/>
            <a:r>
              <a:rPr lang="en-US" sz="1800" dirty="0" err="1"/>
              <a:t>EasyOCR</a:t>
            </a:r>
            <a:r>
              <a:rPr lang="en-US" sz="1800" dirty="0"/>
              <a:t> reads the text inside the cropped plate image.</a:t>
            </a:r>
          </a:p>
          <a:p>
            <a:pPr algn="l"/>
            <a:r>
              <a:rPr lang="en-US" sz="1800" dirty="0"/>
              <a:t>It returns the detected characters as a string.</a:t>
            </a:r>
          </a:p>
          <a:p>
            <a:pPr algn="l"/>
            <a:endParaRPr lang="en-US" sz="1800" dirty="0"/>
          </a:p>
          <a:p>
            <a:pPr algn="l"/>
            <a:r>
              <a:rPr lang="en-US" sz="2600" dirty="0">
                <a:solidFill>
                  <a:srgbClr val="0070C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7) Display the Final Result</a:t>
            </a:r>
          </a:p>
          <a:p>
            <a:pPr algn="l"/>
            <a:r>
              <a:rPr lang="en-US" sz="1800" dirty="0"/>
              <a:t>The detected text is drawn on the image.</a:t>
            </a:r>
          </a:p>
          <a:p>
            <a:pPr algn="l"/>
            <a:r>
              <a:rPr lang="en-US" sz="1800" dirty="0"/>
              <a:t>The bounding box is also displayed.</a:t>
            </a:r>
          </a:p>
          <a:p>
            <a:pPr algn="l"/>
            <a:r>
              <a:rPr lang="en-US" sz="1800" dirty="0"/>
              <a:t>Matplotlib shows the final output to the user.</a:t>
            </a:r>
            <a:endParaRPr lang="ar-IQ" sz="1800" dirty="0"/>
          </a:p>
        </p:txBody>
      </p:sp>
    </p:spTree>
    <p:extLst>
      <p:ext uri="{BB962C8B-B14F-4D97-AF65-F5344CB8AC3E}">
        <p14:creationId xmlns:p14="http://schemas.microsoft.com/office/powerpoint/2010/main" val="175077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3E0B380A-9754-4568-B79E-8D04717D2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286" y="3744686"/>
            <a:ext cx="8501743" cy="3113314"/>
          </a:xfrm>
          <a:prstGeom prst="rect">
            <a:avLst/>
          </a:prstGeom>
        </p:spPr>
      </p:pic>
      <p:pic>
        <p:nvPicPr>
          <p:cNvPr id="7" name="صورة 6">
            <a:extLst>
              <a:ext uri="{FF2B5EF4-FFF2-40B4-BE49-F238E27FC236}">
                <a16:creationId xmlns:a16="http://schemas.microsoft.com/office/drawing/2014/main" id="{D6BE89C7-71BE-49ED-B3EA-6EC326ADAB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7" t="10741" r="9915" b="16580"/>
          <a:stretch/>
        </p:blipFill>
        <p:spPr>
          <a:xfrm>
            <a:off x="2068286" y="0"/>
            <a:ext cx="8501743" cy="361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192316"/>
      </p:ext>
    </p:extLst>
  </p:cSld>
  <p:clrMapOvr>
    <a:masterClrMapping/>
  </p:clrMapOvr>
</p:sld>
</file>

<file path=ppt/theme/theme1.xml><?xml version="1.0" encoding="utf-8"?>
<a:theme xmlns:a="http://schemas.openxmlformats.org/drawingml/2006/main" name="قطرة">
  <a:themeElements>
    <a:clrScheme name="قطرة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قطرة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قطرة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TM04033925[[fn=قطرة]]</Template>
  <TotalTime>166</TotalTime>
  <Words>526</Words>
  <Application>Microsoft Office PowerPoint</Application>
  <PresentationFormat>شاشة عريضة</PresentationFormat>
  <Paragraphs>104</Paragraphs>
  <Slides>8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Cascadia Code SemiBold</vt:lpstr>
      <vt:lpstr>Cascadia Mono SemiBold</vt:lpstr>
      <vt:lpstr>Impact</vt:lpstr>
      <vt:lpstr>Tw Cen MT</vt:lpstr>
      <vt:lpstr>قطرة</vt:lpstr>
      <vt:lpstr>عرض تقديمي في PowerPoint</vt:lpstr>
      <vt:lpstr>عرض تقديمي في PowerPoint</vt:lpstr>
      <vt:lpstr>Libraries for Converting XML Files to TXT Format</vt:lpstr>
      <vt:lpstr>عرض تقديمي في PowerPoint</vt:lpstr>
      <vt:lpstr>عرض تقديمي في PowerPoint</vt:lpstr>
      <vt:lpstr>How the Main Code Works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tota Ha</dc:creator>
  <cp:lastModifiedBy>tota Ha</cp:lastModifiedBy>
  <cp:revision>13</cp:revision>
  <dcterms:created xsi:type="dcterms:W3CDTF">2025-12-09T20:40:44Z</dcterms:created>
  <dcterms:modified xsi:type="dcterms:W3CDTF">2025-12-10T14:41:15Z</dcterms:modified>
</cp:coreProperties>
</file>